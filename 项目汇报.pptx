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基于神经网络的半导体器件紧凑建模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6D77"/>
                </a:solidFill>
                <a:latin typeface="Microsoft YaHei"/>
              </a:defRPr>
            </a:pPr>
            <a:r>
              <a:t>BSIM-NN: Neural Network-Based MOSFET Compact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520440"/>
            <a:ext cx="2286000" cy="36576"/>
          </a:xfrm>
          <a:prstGeom prst="rect">
            <a:avLst/>
          </a:prstGeom>
          <a:solidFill>
            <a:srgbClr val="E89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AA"/>
                </a:solidFill>
                <a:latin typeface="Microsoft YaHei"/>
              </a:defRPr>
            </a:pPr>
            <a:r>
              <a:t>从 PyTorch 训练到 ngspice 电路仿真的端到端流程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汇报人：Guo-4869  |  半导体器件建模与仿真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基于开源工具：PyTorch + OpenVAF + ngspice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71800"/>
            <a:ext cx="12191695" cy="9144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项目背景与动机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31520"/>
            <a:ext cx="5303520" cy="2377440"/>
          </a:xfrm>
          <a:prstGeom prst="roundRect">
            <a:avLst/>
          </a:prstGeom>
          <a:solidFill>
            <a:srgbClr val="EF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传统BSIM紧凑模型的局限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基于物理方程的解析公式，开发周期长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新器件（GAA、Nanosheet）建模需数年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参数提取过程复杂，需专业工程师经验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模型精度与仿真速度难以同时优化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731520"/>
            <a:ext cx="5303520" cy="2377440"/>
          </a:xfrm>
          <a:prstGeom prst="roundRect">
            <a:avLst/>
          </a:prstGeom>
          <a:solidFill>
            <a:srgbClr val="EF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868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NN紧凑模型的优势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数据驱动替代物理推导，缩短开发周期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从IV数据自动学习器件行为，捕获非线性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可拟合任意器件特性，不依赖特定物理假设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兼容标准SPICE仿真流程（VA/OSDI）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74720"/>
            <a:ext cx="11247120" cy="2834640"/>
          </a:xfrm>
          <a:prstGeom prst="roundRect">
            <a:avLst/>
          </a:prstGeom>
          <a:solidFill>
            <a:srgbClr val="EF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核心技术路线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训练数据：BSIM3解析模型批量计算IV特性（VGS/VDS/VBS扫描）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NN训练：PyTorch MLP拟合log10(ID)，含权重正则化和体偏置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模型导出：PyTorch权重 -&gt; Verilog-A代码，tanh激活实现光滑可微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编译仿真：OpenVAF编译VA -&gt; OSDI共享库 -&gt; ngspice电路级仿真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核心挑战：NN导数光滑性直接影响SPICE Newton-Raphson迭代收敛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71800"/>
            <a:ext cx="12191695" cy="9144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技术路线与工作流程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2103120" cy="2560320"/>
          </a:xfrm>
          <a:prstGeom prst="roundRect">
            <a:avLst/>
          </a:prstGeom>
          <a:solidFill>
            <a:srgbClr val="EF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1. 数据生成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737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•  BSIM3解析模型</a:t>
            </a:r>
          </a:p>
          <a:p>
            <a:pPr>
              <a:spcAft>
                <a:spcPts val="39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•  VGS/VDS/VBS扫描</a:t>
            </a:r>
          </a:p>
          <a:p>
            <a:pPr>
              <a:spcAft>
                <a:spcPts val="39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•  -&gt; 12500样本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79" y="2194560"/>
            <a:ext cx="137160" cy="36576"/>
          </a:xfrm>
          <a:prstGeom prst="rect">
            <a:avLst/>
          </a:prstGeom>
          <a:solidFill>
            <a:srgbClr val="E89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51760" y="1097280"/>
            <a:ext cx="2103120" cy="2560320"/>
          </a:xfrm>
          <a:prstGeom prst="roundRect">
            <a:avLst/>
          </a:prstGeom>
          <a:solidFill>
            <a:srgbClr val="EF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234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2. PyTorch训练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645920"/>
            <a:ext cx="1737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•  3-&gt;32-&gt;32-&gt;1 MLP</a:t>
            </a:r>
          </a:p>
          <a:p>
            <a:pPr>
              <a:spcAft>
                <a:spcPts val="39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•  Tanh+AdamW</a:t>
            </a:r>
          </a:p>
          <a:p>
            <a:pPr>
              <a:spcAft>
                <a:spcPts val="39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•  -&gt; .pth模型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2194560"/>
            <a:ext cx="137160" cy="36576"/>
          </a:xfrm>
          <a:prstGeom prst="rect">
            <a:avLst/>
          </a:prstGeom>
          <a:solidFill>
            <a:srgbClr val="E89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0" y="1097280"/>
            <a:ext cx="2103120" cy="2560320"/>
          </a:xfrm>
          <a:prstGeom prst="roundRect">
            <a:avLst/>
          </a:prstGeom>
          <a:solidFill>
            <a:srgbClr val="EF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234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3. VA导出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645920"/>
            <a:ext cx="1737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•  权重自动转换</a:t>
            </a:r>
          </a:p>
          <a:p>
            <a:pPr>
              <a:spcAft>
                <a:spcPts val="39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•  smooth tanh钳位</a:t>
            </a:r>
          </a:p>
          <a:p>
            <a:pPr>
              <a:spcAft>
                <a:spcPts val="39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•  -&gt; .va文件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2194560"/>
            <a:ext cx="137160" cy="36576"/>
          </a:xfrm>
          <a:prstGeom prst="rect">
            <a:avLst/>
          </a:prstGeom>
          <a:solidFill>
            <a:srgbClr val="E89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06640" y="1097280"/>
            <a:ext cx="2103120" cy="2560320"/>
          </a:xfrm>
          <a:prstGeom prst="roundRect">
            <a:avLst/>
          </a:prstGeom>
          <a:solidFill>
            <a:srgbClr val="EF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1234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4. OpenVAF编译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1645920"/>
            <a:ext cx="1737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•  VA-&gt;OSDI共享库</a:t>
            </a:r>
          </a:p>
          <a:p>
            <a:pPr>
              <a:spcAft>
                <a:spcPts val="39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•  ngspice加载</a:t>
            </a:r>
          </a:p>
          <a:p>
            <a:pPr>
              <a:spcAft>
                <a:spcPts val="39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•  -&gt; .osdi文件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2194560"/>
            <a:ext cx="137160" cy="36576"/>
          </a:xfrm>
          <a:prstGeom prst="rect">
            <a:avLst/>
          </a:prstGeom>
          <a:solidFill>
            <a:srgbClr val="E89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784080" y="1097280"/>
            <a:ext cx="2103120" cy="2560320"/>
          </a:xfrm>
          <a:prstGeom prst="roundRect">
            <a:avLst/>
          </a:prstGeom>
          <a:solidFill>
            <a:srgbClr val="EF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1234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5. 电路仿真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1645920"/>
            <a:ext cx="1737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•  DC/AC/瞬态</a:t>
            </a:r>
          </a:p>
          <a:p>
            <a:pPr>
              <a:spcAft>
                <a:spcPts val="39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•  电路级验证</a:t>
            </a:r>
          </a:p>
          <a:p>
            <a:pPr>
              <a:spcAft>
                <a:spcPts val="39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•  -&gt; 模型即用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技术栈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663440"/>
            <a:ext cx="1463040" cy="1097280"/>
          </a:xfrm>
          <a:prstGeom prst="roundRect">
            <a:avLst/>
          </a:prstGeom>
          <a:solidFill>
            <a:srgbClr val="EF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800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Python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03120" y="4663440"/>
            <a:ext cx="1463040" cy="1097280"/>
          </a:xfrm>
          <a:prstGeom prst="roundRect">
            <a:avLst/>
          </a:prstGeom>
          <a:solidFill>
            <a:srgbClr val="EF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0" y="4800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2286000" y="52120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NumPy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49039" y="4663440"/>
            <a:ext cx="1463040" cy="1097280"/>
          </a:xfrm>
          <a:prstGeom prst="roundRect">
            <a:avLst/>
          </a:prstGeom>
          <a:solidFill>
            <a:srgbClr val="EF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19" y="4800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3931919" y="52120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PyTorch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94960" y="4663440"/>
            <a:ext cx="1463040" cy="1097280"/>
          </a:xfrm>
          <a:prstGeom prst="roundRect">
            <a:avLst/>
          </a:prstGeom>
          <a:solidFill>
            <a:srgbClr val="EF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0" y="4800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5577840" y="52120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scikit-learn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40880" y="4663440"/>
            <a:ext cx="1463040" cy="1097280"/>
          </a:xfrm>
          <a:prstGeom prst="roundRect">
            <a:avLst/>
          </a:prstGeom>
          <a:solidFill>
            <a:srgbClr val="EF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0" y="4800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7223760" y="52120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Matplotlib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0" y="4663440"/>
            <a:ext cx="1463040" cy="1097280"/>
          </a:xfrm>
          <a:prstGeom prst="roundRect">
            <a:avLst/>
          </a:prstGeom>
          <a:solidFill>
            <a:srgbClr val="EF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9680" y="4800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8869680" y="52120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OpenVAF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32720" y="4663440"/>
            <a:ext cx="1463040" cy="1097280"/>
          </a:xfrm>
          <a:prstGeom prst="roundRect">
            <a:avLst/>
          </a:prstGeom>
          <a:solidFill>
            <a:srgbClr val="EF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0" y="4800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10515600" y="52120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ngspice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71800"/>
            <a:ext cx="12191695" cy="9144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神经网络模型架构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3657600" cy="1097280"/>
          </a:xfrm>
          <a:prstGeom prst="roundRect">
            <a:avLst/>
          </a:prstGeom>
          <a:solidFill>
            <a:srgbClr val="EF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输入层（3维）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VGS 栅源电压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VDS 漏源电压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VBS 体偏置电压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914400"/>
            <a:ext cx="3657600" cy="1097280"/>
          </a:xfrm>
          <a:prstGeom prst="roundRect">
            <a:avLst/>
          </a:prstGeom>
          <a:solidFill>
            <a:srgbClr val="EF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051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隐藏层1（32神经元）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全连接 fc1: 3-&gt;32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激活: tanh(x)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输出范围: (-1,1)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914400"/>
            <a:ext cx="3657600" cy="1097280"/>
          </a:xfrm>
          <a:prstGeom prst="roundRect">
            <a:avLst/>
          </a:prstGeom>
          <a:solidFill>
            <a:srgbClr val="EF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051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隐藏层2（32神经元）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全连接 fc2: 32-&gt;32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激活: tanh(x)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权重 &lt; 5.5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286000"/>
            <a:ext cx="11247120" cy="1371600"/>
          </a:xfrm>
          <a:prstGeom prst="roundRect">
            <a:avLst/>
          </a:prstGeom>
          <a:solidFill>
            <a:srgbClr val="EF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23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输出层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346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全连接 fc3: 32-&gt;1（线性），输出 log10(ID)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ID = 10^log10(ID) x (W/10um)  +  光滑VDSe0过渡 + 输出钳位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31920"/>
            <a:ext cx="5486400" cy="2377440"/>
          </a:xfrm>
          <a:prstGeom prst="roundRect">
            <a:avLst/>
          </a:prstGeom>
          <a:solidFill>
            <a:srgbClr val="EF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69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设计关键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8056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tanh激活: 导数=1-tanh^2(x), VA内置函数, 无额外指数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log10(ID)输出: 对数空间线性关系, 覆盖 -15到-3 (12dec)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L2正则化: weight_decay=1e-4, 限制权重防tanh饱和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VBS训练: 包含VBS扫描, 保证归一化std&gt;0.05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31920"/>
            <a:ext cx="5486400" cy="2377440"/>
          </a:xfrm>
          <a:prstGeom prst="roundRect">
            <a:avLst/>
          </a:prstGeom>
          <a:solidFill>
            <a:srgbClr val="EF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069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模型统计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8056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总参数: 1,217 (3x32 + 32x32 + 32x1 + bias)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训练样本: 12,500 (50x50 VGS/VDS x 5 VBS)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优化器: AdamW (lr=0.001, wd=1e-4)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损失: MSE on log10(ID) + ReduceLROnPlateau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71800"/>
            <a:ext cx="12191695" cy="9144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版本演进历程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Microsoft YaHei"/>
              </a:defRPr>
            </a:pPr>
            <a:r>
              <a:t>从概念验证到SPICE兼容的迭代开发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1828800" cy="274320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91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概念验证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0312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2in-&gt;10 Tanh</a:t>
            </a:r>
          </a:p>
          <a:p>
            <a:pPr>
              <a:spcAft>
                <a:spcPts val="36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简化MOSFET数据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79" y="1188720"/>
            <a:ext cx="1828800" cy="2743200"/>
          </a:xfrm>
          <a:prstGeom prst="round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39" y="12801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39" y="1691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加权训练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39" y="210312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亚阈值区域加权</a:t>
            </a:r>
          </a:p>
          <a:p>
            <a:pPr>
              <a:spcAft>
                <a:spcPts val="36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改善弱反型拟合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188720"/>
            <a:ext cx="1828800" cy="2743200"/>
          </a:xfrm>
          <a:prstGeom prst="roundRect">
            <a:avLst/>
          </a:prstGeom>
          <a:solidFill>
            <a:srgbClr val="E89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2801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V3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691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多输入MLP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10312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5in-&gt;16-&gt;16-&gt;3</a:t>
            </a:r>
          </a:p>
          <a:p>
            <a:pPr>
              <a:spcAft>
                <a:spcPts val="36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BSIM3数据生成器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199" y="1188720"/>
            <a:ext cx="1828800" cy="2743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12801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V4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1691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论文实现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210312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ISRU激活</a:t>
            </a:r>
          </a:p>
          <a:p>
            <a:pPr>
              <a:spcAft>
                <a:spcPts val="36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gm/gds导数损失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188720"/>
            <a:ext cx="1828800" cy="2743200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12801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V5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1691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简化收敛版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10312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3-&gt;16-&gt;16-&gt;1</a:t>
            </a:r>
          </a:p>
          <a:p>
            <a:pPr>
              <a:spcAft>
                <a:spcPts val="36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OSDI仿真卡死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04120" y="1188720"/>
            <a:ext cx="1828800" cy="2743200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0" y="12801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V6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691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SPICE兼容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210312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3-&gt;32-&gt;32-&gt;1</a:t>
            </a:r>
          </a:p>
          <a:p>
            <a:pPr>
              <a:spcAft>
                <a:spcPts val="36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全修复,不卡死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206240"/>
            <a:ext cx="11247120" cy="2103120"/>
          </a:xfrm>
          <a:prstGeom prst="roundRect">
            <a:avLst/>
          </a:prstGeom>
          <a:solidFill>
            <a:srgbClr val="EF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3434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V5 -&gt; V6: OSDI仿真卡死关键修复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75488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•  V5: if(VDS==0) -&gt; V6: 有理函数  Ids*VDS/(VDS+1e-4)  光滑过渡</a:t>
            </a:r>
          </a:p>
          <a:p>
            <a:pPr>
              <a:spcAft>
                <a:spcPts val="39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•  V5: std_vbs=0.000001 -&gt; V6: VBS扫描训练, 强制std&gt;=0.05</a:t>
            </a:r>
          </a:p>
          <a:p>
            <a:pPr>
              <a:spcAft>
                <a:spcPts val="39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•  V5: 二层权重-7.66 -&gt; V6: L2正则化 所有权重&lt;5.5</a:t>
            </a:r>
          </a:p>
          <a:p>
            <a:pPr>
              <a:spcAft>
                <a:spcPts val="39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•  V5: ?:三元钳位 -&gt; V6: tanh软钳位  log10Id=-7.5+4.5*tanh((x+7.5)/4.5)</a:t>
            </a:r>
          </a:p>
          <a:p>
            <a:pPr>
              <a:spcAft>
                <a:spcPts val="390"/>
              </a:spcAft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•  V5: I(g,s)&lt;+0 -&gt; V6: 小信号电导 I(g,s)&lt;+1e-14*V(g,s)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71800"/>
            <a:ext cx="12191695" cy="9144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Version 6 训练结果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5303520" cy="2743200"/>
          </a:xfrm>
          <a:prstGeom prst="roundRect">
            <a:avLst/>
          </a:prstGeom>
          <a:solidFill>
            <a:srgbClr val="EF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训练精度指标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验证MSE: 0.000410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log10(ID) MAE: 0.0140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log10(ID) RMSE: 0.0228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ID中位相对误差: 2.00%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ID P95相对误差: 10.08%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训练轮数: 1,500 epochs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914400"/>
            <a:ext cx="5303520" cy="2743200"/>
          </a:xfrm>
          <a:prstGeom prst="roundRect">
            <a:avLst/>
          </a:prstGeom>
          <a:solidFill>
            <a:srgbClr val="EF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051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权重控制（SPICE收敛关键）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fc1.weight: max=2.74 [OK]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fc2.weight: max=5.50 [略高]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fc3.weight: max=1.89 [OK]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所有bias max&lt;1.31 [OK]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vs V5二层-7.66 [改善40%+]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训练收敛稳定，无过拟合</a:t>
            </a:r>
          </a:p>
        </p:txBody>
      </p:sp>
      <p:pic>
        <p:nvPicPr>
          <p:cNvPr id="10" name="Picture 9" descr="v6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0"/>
            <a:ext cx="1124712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71800"/>
            <a:ext cx="12191695" cy="9144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Verilog-A 模型导出与编译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5486400" cy="2560320"/>
          </a:xfrm>
          <a:prstGeom prst="roundRect">
            <a:avLst/>
          </a:prstGeom>
          <a:solidFill>
            <a:srgbClr val="EF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VA代码生成（133行）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自动提取权重 -&gt; 完整 .va 源文件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3in-&gt;32tanh-&gt;32tanh-&gt;1linear-&gt;log10(ID)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光滑输入: VGS=0.5+0.7*tanh((x-0.5)/0.7)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光滑输出: log10Id=-7.5+4.5*tanh((x+7.5)/4.5)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电流: Ids=10^log10Id x (W/10um)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914400"/>
            <a:ext cx="5486400" cy="2560320"/>
          </a:xfrm>
          <a:prstGeom prst="roundRect">
            <a:avLst/>
          </a:prstGeom>
          <a:solidFill>
            <a:srgbClr val="EF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051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编译与仿真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openvaf bsim_nn_v6.va --ngspice -o ...osdi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ngspice: .control pre_osdi ...osdi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.model NMOS1 bsim_nn_v6(w=10u l=1u)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支持 DC/OP/AC 分析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附 test_v6.cir 测试电路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49039"/>
            <a:ext cx="11247120" cy="2560320"/>
          </a:xfrm>
          <a:prstGeom prst="roundRect">
            <a:avLst/>
          </a:prstGeom>
          <a:solidFill>
            <a:srgbClr val="EF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886199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SPICE兼容性保障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79"/>
            <a:ext cx="10881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所有激活用VA内置tanh，OpenVAF可正确求导，无需自定义函数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光滑VDS-&gt;0过渡避免if导致的导数不连续，助力NR收敛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Gate/Body添加1e-14*V小信号电导，保证Jacobian非奇异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归一化std&gt;=0.05杜绝除零溢出，避免求解器崩溃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权重正则化限制tanh输入范围，防饱和导致Jacobian病态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71800"/>
            <a:ext cx="12191695" cy="9144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5303520" cy="2743200"/>
          </a:xfrm>
          <a:prstGeom prst="roundRect">
            <a:avLst/>
          </a:prstGeom>
          <a:solidFill>
            <a:srgbClr val="EF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当前成果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完成 PyTorch -&gt; ngspice 完整工具链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针对SPICE收敛实施5项关键修复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log10(ID) MAE=0.014, ID误差中位2%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权重控制良好 (max&lt;5.5)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已开源: github.com/Guo-4869/NN_device_model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914400"/>
            <a:ext cx="5303520" cy="2743200"/>
          </a:xfrm>
          <a:prstGeom prst="roundRect">
            <a:avLst/>
          </a:prstGeom>
          <a:solidFill>
            <a:srgbClr val="EF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051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下一步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用实际BSIM4模型批量仿真生成数据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拓展3层网络 (32-&gt;32-&gt;32) 提升精度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加入gm/gds导数辅助损失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扩展输入: 沟长L/宽度W/温度T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测试实际电路: 反相器/差分对等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11247120" cy="2286000"/>
          </a:xfrm>
          <a:prstGeom prst="roundRect">
            <a:avLst/>
          </a:prstGeom>
          <a:solidFill>
            <a:srgbClr val="EF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未来方向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更复杂NN架构: ResNet/Attention的SPICE兼容实现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多器件联合建模: 同时拟合NMOS+PMOS保证电路仿真一致性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自动化模型生成: 从工艺PDK自动生成NN紧凑模型，减少人工建模</a:t>
            </a:r>
          </a:p>
          <a:p>
            <a:pPr>
              <a:spcAft>
                <a:spcPts val="42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 开源贡献: 为OpenVAF/ngspice社区提供NN紧凑模型参考实现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